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684"/>
  </p:normalViewPr>
  <p:slideViewPr>
    <p:cSldViewPr snapToGrid="0" snapToObjects="1">
      <p:cViewPr varScale="1">
        <p:scale>
          <a:sx n="200" d="100"/>
          <a:sy n="200" d="100"/>
        </p:scale>
        <p:origin x="154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CHICAGO CRIME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C2626"/>
                </a:solidFill>
              </a:rPr>
              <a:t>SQL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17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0A0A0"/>
                </a:solidFill>
              </a:rPr>
              <a:t>Schema-Augmented Retrieval for Text-to-SQL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520440"/>
            <a:ext cx="395935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365760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6B7B8D"/>
                </a:solidFill>
              </a:rPr>
              <a:t>Vignesh  ·  Rupesh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0A0"/>
                </a:solidFill>
              </a:rPr>
              <a:t>Data is locked behind SQL — most people can't access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5394960" cy="52120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</a:rP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D0D0D0"/>
                </a:solidFill>
              </a:rPr>
              <a:t>  •  Databases hold critical insights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D0D0D0"/>
                </a:solidFill>
              </a:rPr>
              <a:t>  •  Non-technical users can't write SQL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D0D0D0"/>
                </a:solidFill>
              </a:rPr>
              <a:t>  •  Engineers become a bottleneck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D0D0D0"/>
                </a:solidFill>
              </a:rPr>
              <a:t>  •  Insights are delayed or never surfaced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</a:rPr>
              <a:t>Why existing tools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D0D0D0"/>
                </a:solidFill>
              </a:rPr>
              <a:t>  •  LLMs hallucinate column names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D0D0D0"/>
                </a:solidFill>
              </a:rPr>
              <a:t>  •  Generated queries often break on real DBs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D0D0D0"/>
                </a:solidFill>
              </a:rPr>
              <a:t>  •  Most tools stop at SQL — users still get raw tables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5486400" cy="5212080"/>
          </a:xfrm>
          <a:prstGeom prst="rect">
            <a:avLst/>
          </a:prstGeom>
          <a:solidFill>
            <a:srgbClr val="1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280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DC2626"/>
                </a:solidFill>
              </a:rPr>
              <a:t>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512064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rgbClr val="FFFFFF"/>
                </a:solidFill>
              </a:rPr>
              <a:t>The problem isn't just generating SQL.
It's reliably generating correct SQL and turning the results into a real answer </a:t>
            </a:r>
            <a:r>
              <a:rPr lang="en-US" sz="1700" b="0" i="1" dirty="0">
                <a:solidFill>
                  <a:srgbClr val="FFFFFF"/>
                </a:solidFill>
              </a:rPr>
              <a:t>-</a:t>
            </a:r>
            <a:r>
              <a:rPr sz="1700" b="0" i="1" dirty="0">
                <a:solidFill>
                  <a:srgbClr val="FFFFFF"/>
                </a:solidFill>
              </a:rPr>
              <a:t> for a real user.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0A0"/>
                </a:solidFill>
              </a:rPr>
              <a:t>A self-correcting Text-to-SQL agent built with LangGraph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828800" cy="1371600"/>
          </a:xfrm>
          <a:prstGeom prst="rect">
            <a:avLst/>
          </a:prstGeom>
          <a:solidFill>
            <a:srgbClr val="2A2A2A"/>
          </a:solidFill>
          <a:ln w="1905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Plain English
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79" y="155448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188720"/>
            <a:ext cx="1828800" cy="1371600"/>
          </a:xfrm>
          <a:prstGeom prst="rect">
            <a:avLst/>
          </a:prstGeom>
          <a:solidFill>
            <a:srgbClr val="1C1C2E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3258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Generate
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55448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1828800" cy="1371600"/>
          </a:xfrm>
          <a:prstGeom prst="rect">
            <a:avLst/>
          </a:prstGeom>
          <a:solidFill>
            <a:srgbClr val="1C1C2E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59" y="13258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Validate
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155448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1828800" cy="1371600"/>
          </a:xfrm>
          <a:prstGeom prst="rect">
            <a:avLst/>
          </a:prstGeom>
          <a:solidFill>
            <a:srgbClr val="1C1C2E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13258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Run
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55448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188720"/>
            <a:ext cx="1828800" cy="1371600"/>
          </a:xfrm>
          <a:prstGeom prst="rect">
            <a:avLst/>
          </a:prstGeom>
          <a:solidFill>
            <a:srgbClr val="1A060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2440" y="13258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Natural Language
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0A0"/>
                </a:solidFill>
              </a:rPr>
              <a:t>↺  retry up to 3×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00400"/>
            <a:ext cx="11183112" cy="3017520"/>
          </a:xfrm>
          <a:prstGeom prst="rect">
            <a:avLst/>
          </a:prstGeom>
          <a:solidFill>
            <a:srgbClr val="12121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03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0D0"/>
                </a:solidFill>
              </a:rPr>
              <a:t>Q:  "Which district had the most domestic crime in 2022?"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06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A0A0"/>
                </a:solidFill>
              </a:rPr>
              <a:t>SQL: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4114800"/>
            <a:ext cx="64008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17320" y="41605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D3FC"/>
                </a:solidFill>
              </a:rPr>
              <a:t>SELECT "DISTRICT", COUNT(*) FROM crimes WHERE "DOMESTIC" = TRUE AND "YEAR" = 2022 GROUP BY 1 ORDER BY 2 DESC LIMIT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54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6EFAC"/>
                </a:solidFill>
              </a:rPr>
              <a:t>A:  "District 11 had the highest number of domestic crimes in 2022 with 4,312 incidents."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overall_arc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725" y="1553498"/>
            <a:ext cx="5943600" cy="33607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06789" y="1161288"/>
            <a:ext cx="2952206" cy="1156657"/>
          </a:xfrm>
          <a:prstGeom prst="rect">
            <a:avLst/>
          </a:prstGeom>
          <a:solidFill>
            <a:srgbClr val="2A2A2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34781" y="1252728"/>
            <a:ext cx="2741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Data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4781" y="1618488"/>
            <a:ext cx="274133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D0D0D0"/>
                </a:solidFill>
              </a:rPr>
              <a:t>Apache Airflow ingests ~</a:t>
            </a:r>
            <a:r>
              <a:rPr lang="en-US" sz="1300" dirty="0">
                <a:solidFill>
                  <a:srgbClr val="D0D0D0"/>
                </a:solidFill>
              </a:rPr>
              <a:t>1.4</a:t>
            </a:r>
            <a:r>
              <a:rPr sz="1300" b="0" i="0" dirty="0">
                <a:solidFill>
                  <a:srgbClr val="D0D0D0"/>
                </a:solidFill>
              </a:rPr>
              <a:t>M crime
records weekly into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8306789" y="2715768"/>
            <a:ext cx="2952206" cy="1156657"/>
          </a:xfrm>
          <a:prstGeom prst="rect">
            <a:avLst/>
          </a:prstGeom>
          <a:solidFill>
            <a:srgbClr val="2A2A2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34781" y="2807208"/>
            <a:ext cx="2741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Inference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4781" y="3172968"/>
            <a:ext cx="274133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D0D0D0"/>
                </a:solidFill>
              </a:rPr>
              <a:t>LangGraph</a:t>
            </a:r>
            <a:r>
              <a:rPr sz="1300" b="0" i="0" dirty="0">
                <a:solidFill>
                  <a:srgbClr val="D0D0D0"/>
                </a:solidFill>
              </a:rPr>
              <a:t> agent + </a:t>
            </a:r>
            <a:r>
              <a:rPr sz="1300" b="0" i="0" dirty="0" err="1">
                <a:solidFill>
                  <a:srgbClr val="D0D0D0"/>
                </a:solidFill>
              </a:rPr>
              <a:t>Groq</a:t>
            </a:r>
            <a:r>
              <a:rPr sz="1300" b="0" i="0" dirty="0">
                <a:solidFill>
                  <a:srgbClr val="D0D0D0"/>
                </a:solidFill>
              </a:rPr>
              <a:t> (</a:t>
            </a:r>
            <a:r>
              <a:rPr lang="en-US" sz="1300" b="0" i="0" dirty="0">
                <a:solidFill>
                  <a:srgbClr val="D0D0D0"/>
                </a:solidFill>
              </a:rPr>
              <a:t>ChatGPT OSS 120B</a:t>
            </a:r>
            <a:r>
              <a:rPr sz="1300" b="0" i="0" dirty="0">
                <a:solidFill>
                  <a:srgbClr val="D0D0D0"/>
                </a:solidFill>
              </a:rPr>
              <a:t>)
orchestrates the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06789" y="4270248"/>
            <a:ext cx="2952206" cy="1156657"/>
          </a:xfrm>
          <a:prstGeom prst="rect">
            <a:avLst/>
          </a:prstGeom>
          <a:solidFill>
            <a:srgbClr val="2A2A2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4781" y="4361687"/>
            <a:ext cx="2741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User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4781" y="4727448"/>
            <a:ext cx="274133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Next.js chat UI, Docker container,
exposed via Cloudflare Tunnel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0A0"/>
                </a:solidFill>
              </a:rPr>
              <a:t>6-node LangGraph StateGraph</a:t>
            </a:r>
          </a:p>
        </p:txBody>
      </p:sp>
      <p:pic>
        <p:nvPicPr>
          <p:cNvPr id="5" name="Picture 4" descr="agent_arc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66" y="1111412"/>
            <a:ext cx="2519469" cy="49602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74720" y="960120"/>
            <a:ext cx="8229600" cy="79552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20440" y="1033272"/>
            <a:ext cx="347472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069848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033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Relevance Checker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380744"/>
            <a:ext cx="7589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0A0A0"/>
                </a:solidFill>
              </a:rPr>
              <a:t>Regex filter rejects off-topic questions in &lt;5ms </a:t>
            </a:r>
            <a:r>
              <a:rPr lang="en-US" sz="1200" b="0" i="0" dirty="0">
                <a:solidFill>
                  <a:srgbClr val="A0A0A0"/>
                </a:solidFill>
              </a:rPr>
              <a:t>-</a:t>
            </a:r>
            <a:r>
              <a:rPr sz="1200" b="0" i="0" dirty="0">
                <a:solidFill>
                  <a:srgbClr val="A0A0A0"/>
                </a:solidFill>
              </a:rPr>
              <a:t> no LLM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8229600" cy="79552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901952"/>
            <a:ext cx="347472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938528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9019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Schema Fetcher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249424"/>
            <a:ext cx="7589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A0A0A0"/>
                </a:solidFill>
              </a:rPr>
              <a:t>Reads live DB column names and types </a:t>
            </a:r>
            <a:r>
              <a:rPr lang="en-US" sz="1200" b="0" i="0" dirty="0">
                <a:solidFill>
                  <a:srgbClr val="A0A0A0"/>
                </a:solidFill>
              </a:rPr>
              <a:t>-</a:t>
            </a:r>
            <a:r>
              <a:rPr sz="1200" b="0" i="0" dirty="0">
                <a:solidFill>
                  <a:srgbClr val="A0A0A0"/>
                </a:solidFill>
              </a:rPr>
              <a:t> no hardcoded schema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697480"/>
            <a:ext cx="8229600" cy="79552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20440" y="2770632"/>
            <a:ext cx="347472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40" y="2807208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770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Query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11810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</a:rPr>
              <a:t>LLM writes a PostgreSQL SELECT with strict quoting rules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3566159"/>
            <a:ext cx="8229600" cy="79552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20440" y="3639311"/>
            <a:ext cx="347472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20440" y="3675887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6393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Query Validator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986783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</a:rPr>
              <a:t>Runs EXPLAIN to catch syntax errors; blocks DML; retries up to 3×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4434840"/>
            <a:ext cx="8229600" cy="79552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20440" y="4507992"/>
            <a:ext cx="347472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20440" y="4544568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4507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Query Runner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85546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</a:rPr>
              <a:t>Executes the validated SQL and captures results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5303520"/>
            <a:ext cx="8229600" cy="79552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520440" y="5376672"/>
            <a:ext cx="347472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20440" y="5413248"/>
            <a:ext cx="347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5376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Answer Synthesizer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572414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</a:rPr>
              <a:t>LLM turns rows into a clear, plain-English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Prompt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A0A0A0"/>
                </a:solidFill>
              </a:rPr>
              <a:t>4 iterations </a:t>
            </a:r>
            <a:r>
              <a:rPr lang="en-US" sz="1400" b="0" i="1" dirty="0">
                <a:solidFill>
                  <a:srgbClr val="A0A0A0"/>
                </a:solidFill>
              </a:rPr>
              <a:t>-</a:t>
            </a:r>
            <a:r>
              <a:rPr sz="1400" b="0" i="1" dirty="0">
                <a:solidFill>
                  <a:srgbClr val="A0A0A0"/>
                </a:solidFill>
              </a:rPr>
              <a:t> no model fine-tuning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141490"/>
              </p:ext>
            </p:extLst>
          </p:nvPr>
        </p:nvGraphicFramePr>
        <p:xfrm>
          <a:off x="502920" y="1005840"/>
          <a:ext cx="11183111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9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3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4128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Change Made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D0D0D0"/>
                          </a:solidFill>
                        </a:rPr>
                        <a:t>1  Baseline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D0D0D0"/>
                          </a:solidFill>
                        </a:rPr>
                        <a:t>Generic "write SQL" prompt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D0D0D0"/>
                          </a:solidFill>
                        </a:rPr>
                        <a:t>High syntax errors, DML leakage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D0D0D0"/>
                          </a:solidFill>
                        </a:rPr>
                        <a:t>2  PostgreSQL Rules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D0D0D0"/>
                          </a:solidFill>
                        </a:rPr>
                        <a:t>Double-quote identifiers, block DML explicitly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D0D0D0"/>
                          </a:solidFill>
                        </a:rPr>
                        <a:t>Syntax errors dropped significantly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D0D0D0"/>
                          </a:solidFill>
                        </a:rPr>
                        <a:t>3</a:t>
                      </a:r>
                      <a:r>
                        <a:rPr lang="en-US" sz="1300" b="0" dirty="0">
                          <a:solidFill>
                            <a:srgbClr val="D0D0D0"/>
                          </a:solidFill>
                        </a:rPr>
                        <a:t> Rules + Schema</a:t>
                      </a:r>
                      <a:endParaRPr sz="1300" b="0" dirty="0">
                        <a:solidFill>
                          <a:srgbClr val="D0D0D0"/>
                        </a:solidFill>
                      </a:endParaRP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>
                          <a:solidFill>
                            <a:srgbClr val="D0D0D0"/>
                          </a:solidFill>
                        </a:rPr>
                        <a:t>Schema of the database along with the rules with previous step</a:t>
                      </a:r>
                      <a:endParaRPr sz="1300" b="0" dirty="0">
                        <a:solidFill>
                          <a:srgbClr val="D0D0D0"/>
                        </a:solidFill>
                      </a:endParaRP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0D0D0"/>
                          </a:solidFill>
                        </a:rPr>
                        <a:t>JOIN accuracy improved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12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0D0D0"/>
                          </a:solidFill>
                        </a:rPr>
                        <a:t>4  Retry + Validator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D0D0D0"/>
                          </a:solidFill>
                        </a:rPr>
                        <a:t>EXPLAIN loop, expanded relevance keywords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D0D0D0"/>
                          </a:solidFill>
                        </a:rPr>
                        <a:t>Final system (V2) — SQ 4.34</a:t>
                      </a:r>
                    </a:p>
                  </a:txBody>
                  <a:tcPr>
                    <a:solidFill>
                      <a:srgbClr val="28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21792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0A0A0"/>
                </a:solidFill>
              </a:rPr>
              <a:t>Key insight: explicit constraints + a validation loop outperform a single LLM 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0A0"/>
                </a:solidFill>
              </a:rPr>
              <a:t>100 hand-crafted questions with ground-truth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3474720" cy="201168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30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</a:rPr>
              <a:t>Single-table counts, filters, basic aggregations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05840"/>
            <a:ext cx="3474720" cy="2011680"/>
          </a:xfrm>
          <a:prstGeom prst="rect">
            <a:avLst/>
          </a:prstGeom>
          <a:solidFill>
            <a:srgbClr val="224466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097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40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</a:rPr>
              <a:t>JOINs, GROUP BY, year-over-year comparisons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005840"/>
            <a:ext cx="3474720" cy="2011680"/>
          </a:xfrm>
          <a:prstGeom prst="rect">
            <a:avLst/>
          </a:prstGeom>
          <a:solidFill>
            <a:srgbClr val="DC2626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1097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0D0"/>
                </a:solidFill>
              </a:rPr>
              <a:t>30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</a:rPr>
              <a:t>Window functions, CTEs, rolling averages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Three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11183112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776472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C2626"/>
                </a:solidFill>
              </a:rPr>
              <a:t>VSR </a:t>
            </a:r>
            <a:r>
              <a:rPr lang="en-US" sz="1300" b="1" i="0" dirty="0">
                <a:solidFill>
                  <a:srgbClr val="DC2626"/>
                </a:solidFill>
              </a:rPr>
              <a:t>-</a:t>
            </a:r>
            <a:r>
              <a:rPr sz="1300" b="1" i="0" dirty="0">
                <a:solidFill>
                  <a:srgbClr val="DC2626"/>
                </a:solidFill>
              </a:rPr>
              <a:t> Valid SQL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05656"/>
            <a:ext cx="10789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Did the query execute without syntax errors or DML violations?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72000"/>
            <a:ext cx="11183112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645152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C2626"/>
                </a:solidFill>
              </a:rPr>
              <a:t>EX </a:t>
            </a:r>
            <a:r>
              <a:rPr lang="en-US" sz="1300" b="1" i="0" dirty="0">
                <a:solidFill>
                  <a:srgbClr val="DC2626"/>
                </a:solidFill>
              </a:rPr>
              <a:t>-</a:t>
            </a:r>
            <a:r>
              <a:rPr sz="1300" b="1" i="0" dirty="0">
                <a:solidFill>
                  <a:srgbClr val="DC2626"/>
                </a:solidFill>
              </a:rPr>
              <a:t> Execution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74336"/>
            <a:ext cx="10789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Did it return the correct result set? (hybrid relational match)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440679"/>
            <a:ext cx="11183112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513831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DC2626"/>
                </a:solidFill>
              </a:rPr>
              <a:t>SQ </a:t>
            </a:r>
            <a:r>
              <a:rPr lang="en-US" sz="1300" b="1" i="0" dirty="0">
                <a:solidFill>
                  <a:srgbClr val="DC2626"/>
                </a:solidFill>
              </a:rPr>
              <a:t>-</a:t>
            </a:r>
            <a:r>
              <a:rPr sz="1300" b="1" i="0" dirty="0">
                <a:solidFill>
                  <a:srgbClr val="DC2626"/>
                </a:solidFill>
              </a:rPr>
              <a:t> Synthesis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43016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D0D0D0"/>
                </a:solidFill>
              </a:rPr>
              <a:t>Was the natural-language answer accurate and clear? (1–5 scale)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0A0"/>
                </a:solidFill>
              </a:rPr>
              <a:t>V2 exceeds the SQ target of ≥ 4.0 across all tiers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166360"/>
            <a:ext cx="3566160" cy="1417320"/>
          </a:xfrm>
          <a:prstGeom prst="rect">
            <a:avLst/>
          </a:prstGeom>
          <a:solidFill>
            <a:srgbClr val="1A060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257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+6pp VSR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0D0"/>
                </a:solidFill>
              </a:rPr>
              <a:t>Fewer broken
queries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5166360"/>
            <a:ext cx="3566160" cy="1417320"/>
          </a:xfrm>
          <a:prstGeom prst="rect">
            <a:avLst/>
          </a:prstGeom>
          <a:solidFill>
            <a:srgbClr val="1A060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5257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+13pp 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7607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0D0"/>
                </a:solidFill>
              </a:rPr>
              <a:t>More correct
result sets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5166360"/>
            <a:ext cx="3566160" cy="1417320"/>
          </a:xfrm>
          <a:prstGeom prst="rect">
            <a:avLst/>
          </a:prstGeom>
          <a:solidFill>
            <a:srgbClr val="1A060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52578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+0.43 SQ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7607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0D0"/>
                </a:solidFill>
              </a:rPr>
              <a:t>Clearer natural
language answers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AE17898-18B6-71BD-E9B9-5FC3292DB0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6"/>
          <a:stretch/>
        </p:blipFill>
        <p:spPr>
          <a:xfrm>
            <a:off x="2254033" y="1733796"/>
            <a:ext cx="7295623" cy="23097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5486400" cy="5212080"/>
          </a:xfrm>
          <a:prstGeom prst="rect">
            <a:avLst/>
          </a:prstGeom>
          <a:solidFill>
            <a:srgbClr val="0A1A0A"/>
          </a:solidFill>
          <a:ln w="12700">
            <a:solidFill>
              <a:srgbClr val="22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6EFAC"/>
                </a:solidFill>
              </a:rPr>
              <a:t>✓  What drove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5303520" cy="960120"/>
          </a:xfrm>
          <a:prstGeom prst="rect">
            <a:avLst/>
          </a:prstGeom>
          <a:solidFill>
            <a:srgbClr val="102210"/>
          </a:solidFill>
          <a:ln w="12700">
            <a:solidFill>
              <a:srgbClr val="335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D0D0D0"/>
                </a:solidFill>
              </a:rPr>
              <a:t>Removing LIMIT 10 from the prompt was the
single biggest fix </a:t>
            </a:r>
            <a:r>
              <a:rPr lang="en-US" sz="1300" b="0" i="0" dirty="0">
                <a:solidFill>
                  <a:srgbClr val="D0D0D0"/>
                </a:solidFill>
              </a:rPr>
              <a:t>-</a:t>
            </a:r>
            <a:r>
              <a:rPr sz="1300" b="0" i="0" dirty="0">
                <a:solidFill>
                  <a:srgbClr val="D0D0D0"/>
                </a:solidFill>
              </a:rPr>
              <a:t> Hard EX: 7% → 17%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33472"/>
            <a:ext cx="5303520" cy="960120"/>
          </a:xfrm>
          <a:prstGeom prst="rect">
            <a:avLst/>
          </a:prstGeom>
          <a:solidFill>
            <a:srgbClr val="102210"/>
          </a:solidFill>
          <a:ln w="12700">
            <a:solidFill>
              <a:srgbClr val="335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706624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Expanding relevance keywords cut false
rejections by 70% (10 → 3 failures)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712463"/>
            <a:ext cx="5303520" cy="960120"/>
          </a:xfrm>
          <a:prstGeom prst="rect">
            <a:avLst/>
          </a:prstGeom>
          <a:solidFill>
            <a:srgbClr val="102210"/>
          </a:solidFill>
          <a:ln w="12700">
            <a:solidFill>
              <a:srgbClr val="335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785615"/>
            <a:ext cx="5029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0"/>
                </a:solidFill>
              </a:rPr>
              <a:t>When SQL is correct, LLM narrates it well:
SQ ≥ 4 in 85 of 100 V2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791456"/>
            <a:ext cx="5303520" cy="960120"/>
          </a:xfrm>
          <a:prstGeom prst="rect">
            <a:avLst/>
          </a:prstGeom>
          <a:solidFill>
            <a:srgbClr val="102210"/>
          </a:solidFill>
          <a:ln w="12700">
            <a:solidFill>
              <a:srgbClr val="335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D0D0D0"/>
                </a:solidFill>
              </a:rPr>
              <a:t>Synthesis is not the bottleneck </a:t>
            </a:r>
            <a:r>
              <a:rPr lang="en-US" sz="1300" b="0" i="0" dirty="0">
                <a:solidFill>
                  <a:srgbClr val="D0D0D0"/>
                </a:solidFill>
              </a:rPr>
              <a:t>-</a:t>
            </a:r>
            <a:r>
              <a:rPr sz="1300" b="0" i="0" dirty="0">
                <a:solidFill>
                  <a:srgbClr val="D0D0D0"/>
                </a:solidFill>
              </a:rPr>
              <a:t> SQL
generation quality 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05840"/>
            <a:ext cx="5486400" cy="5212080"/>
          </a:xfrm>
          <a:prstGeom prst="rect">
            <a:avLst/>
          </a:prstGeom>
          <a:solidFill>
            <a:srgbClr val="1A0A0A"/>
          </a:solidFill>
          <a:ln w="12700">
            <a:solidFill>
              <a:srgbClr val="77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A5A5"/>
                </a:solidFill>
              </a:rPr>
              <a:t>✗  Remaining failures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554480"/>
            <a:ext cx="5303520" cy="1417320"/>
          </a:xfrm>
          <a:prstGeom prst="rect">
            <a:avLst/>
          </a:prstGeom>
          <a:solidFill>
            <a:srgbClr val="221010"/>
          </a:solidFill>
          <a:ln w="12700">
            <a:solidFill>
              <a:srgbClr val="55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6276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</a:rPr>
              <a:t>Ambiguous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993392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"Average crimes on the same block"
→ global vs. per-block interpretation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90672"/>
            <a:ext cx="5303520" cy="1417320"/>
          </a:xfrm>
          <a:prstGeom prst="rect">
            <a:avLst/>
          </a:prstGeom>
          <a:solidFill>
            <a:srgbClr val="221010"/>
          </a:solidFill>
          <a:ln w="12700">
            <a:solidFill>
              <a:srgbClr val="55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163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</a:rPr>
              <a:t>API rate 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529584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D0D0D0"/>
                </a:solidFill>
              </a:rPr>
              <a:t>4 Hard queries failed </a:t>
            </a:r>
            <a:r>
              <a:rPr lang="en-US" sz="1200" b="0" i="0" dirty="0">
                <a:solidFill>
                  <a:srgbClr val="D0D0D0"/>
                </a:solidFill>
              </a:rPr>
              <a:t>-</a:t>
            </a:r>
            <a:r>
              <a:rPr sz="1200" b="0" i="0" dirty="0">
                <a:solidFill>
                  <a:srgbClr val="D0D0D0"/>
                </a:solidFill>
              </a:rPr>
              <a:t> free tier
8k TPM cap, not a system bug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626864"/>
            <a:ext cx="5303520" cy="1417320"/>
          </a:xfrm>
          <a:prstGeom prst="rect">
            <a:avLst/>
          </a:prstGeom>
          <a:solidFill>
            <a:srgbClr val="221010"/>
          </a:solidFill>
          <a:ln w="12700">
            <a:solidFill>
              <a:srgbClr val="55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47000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CA5A5"/>
                </a:solidFill>
              </a:rPr>
              <a:t>Derived metric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065776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D0D0D0"/>
                </a:solidFill>
              </a:rPr>
              <a:t>"Night vs daytime" </a:t>
            </a:r>
            <a:r>
              <a:rPr lang="en-US" sz="1200" b="0" i="0" dirty="0">
                <a:solidFill>
                  <a:srgbClr val="D0D0D0"/>
                </a:solidFill>
              </a:rPr>
              <a:t>-</a:t>
            </a:r>
            <a:r>
              <a:rPr sz="1200" b="0" i="0" dirty="0">
                <a:solidFill>
                  <a:srgbClr val="D0D0D0"/>
                </a:solidFill>
              </a:rPr>
              <a:t> LLM must
guess unstated hour cutoffs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Work &amp;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0A0"/>
                </a:solidFill>
              </a:rPr>
              <a:t>All improvements point to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5394960" cy="1783080"/>
          </a:xfrm>
          <a:prstGeom prst="rect">
            <a:avLst/>
          </a:prstGeom>
          <a:solidFill>
            <a:srgbClr val="2A2A2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01  Semantic Relevance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Replace keyword filter with embedding similarity
→ eliminates false rejections on paraphrased 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05840"/>
            <a:ext cx="5394960" cy="1783080"/>
          </a:xfrm>
          <a:prstGeom prst="rect">
            <a:avLst/>
          </a:prstGeom>
          <a:solidFill>
            <a:srgbClr val="2A2A2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1155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02  Selective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3619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Inject only top-k relevant columns per query
→ 70–80% token reduction, fits within rate limits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5394960" cy="1783080"/>
          </a:xfrm>
          <a:prstGeom prst="rect">
            <a:avLst/>
          </a:prstGeom>
          <a:solidFill>
            <a:srgbClr val="2A2A2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0358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03  Few-Shot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5643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Retrieve similar (question, SQL) pairs as examples
→ +10–20% EX expected on Hard tier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926080"/>
            <a:ext cx="5394960" cy="1783080"/>
          </a:xfrm>
          <a:prstGeom prst="rect">
            <a:avLst/>
          </a:prstGeom>
          <a:solidFill>
            <a:srgbClr val="2A2A2A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0358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04  Domain Knowledge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5643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0"/>
                </a:solidFill>
              </a:rPr>
              <a:t>Embed domain conventions (e.g. night = 22:00–05:59)
→ fixes ambiguous derived-metric failures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37760"/>
            <a:ext cx="11183112" cy="1645920"/>
          </a:xfrm>
          <a:prstGeom prst="rect">
            <a:avLst/>
          </a:prstGeom>
          <a:solidFill>
            <a:srgbClr val="1A0606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406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A structured agentic loop with good prompt engineering outperforms a single LLM call
— and closes the gap between raw data and non-technical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808</Words>
  <Application>Microsoft Macintosh PowerPoint</Application>
  <PresentationFormat>Custom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Vigneshwar R</cp:lastModifiedBy>
  <cp:revision>4</cp:revision>
  <dcterms:created xsi:type="dcterms:W3CDTF">2013-01-27T09:14:16Z</dcterms:created>
  <dcterms:modified xsi:type="dcterms:W3CDTF">2026-05-06T14:47:47Z</dcterms:modified>
  <cp:category/>
</cp:coreProperties>
</file>